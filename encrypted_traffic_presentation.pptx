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1" r:id="rId5"/>
    <p:sldId id="259" r:id="rId6"/>
    <p:sldId id="266" r:id="rId7"/>
    <p:sldId id="260" r:id="rId8"/>
    <p:sldId id="261" r:id="rId9"/>
    <p:sldId id="272" r:id="rId10"/>
    <p:sldId id="262" r:id="rId11"/>
    <p:sldId id="267" r:id="rId12"/>
    <p:sldId id="263" r:id="rId13"/>
    <p:sldId id="269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361"/>
    <p:restoredTop sz="94610"/>
  </p:normalViewPr>
  <p:slideViewPr>
    <p:cSldViewPr snapToGrid="0" snapToObjects="1">
      <p:cViewPr>
        <p:scale>
          <a:sx n="109" d="100"/>
          <a:sy n="109" d="100"/>
        </p:scale>
        <p:origin x="80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34E-4644-A2FD-88D1BF6A0E00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4E-4644-A2FD-88D1BF6A0E00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4E-4644-A2FD-88D1BF6A0E00}"/>
              </c:ext>
            </c:extLst>
          </c:dPt>
          <c:dPt>
            <c:idx val="3"/>
            <c:invertIfNegative val="0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34E-4644-A2FD-88D1BF6A0E00}"/>
              </c:ext>
            </c:extLst>
          </c:dPt>
          <c:dPt>
            <c:idx val="4"/>
            <c:invertIfNegative val="0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34E-4644-A2FD-88D1BF6A0E00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34E-4644-A2FD-88D1BF6A0E00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34E-4644-A2FD-88D1BF6A0E00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34E-4644-A2FD-88D1BF6A0E00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34E-4644-A2FD-88D1BF6A0E00}"/>
              </c:ext>
            </c:extLst>
          </c:dPt>
          <c:dPt>
            <c:idx val="9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34E-4644-A2FD-88D1BF6A0E00}"/>
              </c:ext>
            </c:extLst>
          </c:dPt>
          <c:cat>
            <c:strRef>
              <c:f>Sheet1!$A$2:$A$11</c:f>
              <c:strCache>
                <c:ptCount val="10"/>
                <c:pt idx="0">
                  <c:v>Bwd Pkt Len Std</c:v>
                </c:pt>
                <c:pt idx="1">
                  <c:v>Bwd Pkt Len Mean</c:v>
                </c:pt>
                <c:pt idx="2">
                  <c:v>Bwd Pkt Len Max</c:v>
                </c:pt>
                <c:pt idx="3">
                  <c:v>Subflow Fwd Pkts</c:v>
                </c:pt>
                <c:pt idx="4">
                  <c:v>Pkt Len Std</c:v>
                </c:pt>
                <c:pt idx="5">
                  <c:v>Fwd Header Len</c:v>
                </c:pt>
                <c:pt idx="6">
                  <c:v>Bwd Pkts Len Total</c:v>
                </c:pt>
                <c:pt idx="7">
                  <c:v>Total Fwd Pkts</c:v>
                </c:pt>
                <c:pt idx="8">
                  <c:v>Pkt Len Variance</c:v>
                </c:pt>
                <c:pt idx="9">
                  <c:v>Pkt Len Mean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6.7799999999999999E-2</c:v>
                </c:pt>
                <c:pt idx="1">
                  <c:v>5.91E-2</c:v>
                </c:pt>
                <c:pt idx="2">
                  <c:v>5.0799999999999998E-2</c:v>
                </c:pt>
                <c:pt idx="3">
                  <c:v>5.0500000000000003E-2</c:v>
                </c:pt>
                <c:pt idx="4">
                  <c:v>4.5999999999999999E-2</c:v>
                </c:pt>
                <c:pt idx="5">
                  <c:v>4.4499999999999998E-2</c:v>
                </c:pt>
                <c:pt idx="6">
                  <c:v>4.4400000000000002E-2</c:v>
                </c:pt>
                <c:pt idx="7">
                  <c:v>4.4400000000000002E-2</c:v>
                </c:pt>
                <c:pt idx="8">
                  <c:v>3.6999999999999998E-2</c:v>
                </c:pt>
                <c:pt idx="9">
                  <c:v>3.4200000000000001E-2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34E-4644-A2FD-88D1BF6A0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744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73555A-6695-F94C-957C-E464CCCC3057}" type="doc">
      <dgm:prSet loTypeId="urn:microsoft.com/office/officeart/2005/8/layout/l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47DA143-C0E9-8D49-B112-EE8E587CB246}">
      <dgm:prSet phldrT="[Texte]" custT="1"/>
      <dgm:spPr>
        <a:solidFill>
          <a:srgbClr val="002060"/>
        </a:solidFill>
      </dgm:spPr>
      <dgm:t>
        <a:bodyPr/>
        <a:lstStyle/>
        <a:p>
          <a:r>
            <a:rPr lang="fr-FR" sz="1800" b="0" i="0" u="none" strike="noStrike" dirty="0">
              <a:solidFill>
                <a:schemeClr val="bg1"/>
              </a:solidFill>
              <a:effectLst/>
            </a:rPr>
            <a:t>Pre-</a:t>
          </a:r>
          <a:r>
            <a:rPr lang="fr-FR" sz="1800" b="0" i="0" u="none" strike="noStrike" dirty="0" err="1">
              <a:solidFill>
                <a:schemeClr val="bg1"/>
              </a:solidFill>
              <a:effectLst/>
            </a:rPr>
            <a:t>labeled</a:t>
          </a:r>
          <a:r>
            <a:rPr lang="fr-FR" sz="1800" b="0" i="0" u="none" strike="noStrike" dirty="0">
              <a:solidFill>
                <a:schemeClr val="bg1"/>
              </a:solidFill>
              <a:effectLst/>
            </a:rPr>
            <a:t> </a:t>
          </a:r>
          <a:r>
            <a:rPr lang="fr-FR" sz="1800" b="0" i="0" u="none" strike="noStrike" dirty="0" err="1">
              <a:solidFill>
                <a:schemeClr val="bg1"/>
              </a:solidFill>
              <a:effectLst/>
            </a:rPr>
            <a:t>Dataset</a:t>
          </a:r>
          <a:r>
            <a:rPr lang="fr-FR" sz="1800" b="0" i="0" u="none" strike="noStrike" dirty="0">
              <a:solidFill>
                <a:schemeClr val="bg1"/>
              </a:solidFill>
              <a:effectLst/>
            </a:rPr>
            <a:t> Baseline</a:t>
          </a:r>
          <a:endParaRPr lang="fr-FR" sz="1800" b="0" dirty="0">
            <a:solidFill>
              <a:schemeClr val="bg1"/>
            </a:solidFill>
          </a:endParaRPr>
        </a:p>
      </dgm:t>
    </dgm:pt>
    <dgm:pt modelId="{B28457A0-51F0-204F-BF07-DEBEFA1FB677}" type="parTrans" cxnId="{255C8B78-A4C3-E941-88D1-2383ADF55E4C}">
      <dgm:prSet/>
      <dgm:spPr/>
      <dgm:t>
        <a:bodyPr/>
        <a:lstStyle/>
        <a:p>
          <a:endParaRPr lang="fr-FR"/>
        </a:p>
      </dgm:t>
    </dgm:pt>
    <dgm:pt modelId="{87262D52-5AE3-9349-8211-D60AB0DA3A79}" type="sibTrans" cxnId="{255C8B78-A4C3-E941-88D1-2383ADF55E4C}">
      <dgm:prSet/>
      <dgm:spPr/>
      <dgm:t>
        <a:bodyPr/>
        <a:lstStyle/>
        <a:p>
          <a:endParaRPr lang="fr-FR"/>
        </a:p>
      </dgm:t>
    </dgm:pt>
    <dgm:pt modelId="{AEB6D9DE-7A34-9E47-8F83-F9396D427E85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800" b="0" i="0" u="none" strike="noStrike" dirty="0">
              <a:solidFill>
                <a:srgbClr val="000000"/>
              </a:solidFill>
              <a:effectLst/>
            </a:rPr>
            <a:t>Data Ingestion &amp; </a:t>
          </a:r>
          <a:r>
            <a:rPr lang="fr-FR" sz="1800" b="0" i="0" u="none" strike="noStrike" dirty="0" err="1">
              <a:solidFill>
                <a:srgbClr val="000000"/>
              </a:solidFill>
              <a:effectLst/>
            </a:rPr>
            <a:t>Refinement</a:t>
          </a:r>
          <a:endParaRPr lang="fr-FR" sz="1800" b="0" dirty="0"/>
        </a:p>
      </dgm:t>
    </dgm:pt>
    <dgm:pt modelId="{FE292A55-5798-6B47-8F9A-1E0963439BAA}" type="parTrans" cxnId="{47C8D049-666D-3D4A-8D73-29E7A2408B7B}">
      <dgm:prSet/>
      <dgm:spPr/>
      <dgm:t>
        <a:bodyPr/>
        <a:lstStyle/>
        <a:p>
          <a:endParaRPr lang="fr-FR"/>
        </a:p>
      </dgm:t>
    </dgm:pt>
    <dgm:pt modelId="{9BE555CB-6037-3648-9955-DE9A32DABEDF}" type="sibTrans" cxnId="{47C8D049-666D-3D4A-8D73-29E7A2408B7B}">
      <dgm:prSet/>
      <dgm:spPr/>
      <dgm:t>
        <a:bodyPr/>
        <a:lstStyle/>
        <a:p>
          <a:endParaRPr lang="fr-FR"/>
        </a:p>
      </dgm:t>
    </dgm:pt>
    <dgm:pt modelId="{CE0DA4CF-3FEA-BF40-B1CD-7D7AB26B8A8B}">
      <dgm:prSet phldrT="[Texte]" custT="1"/>
      <dgm:spPr/>
      <dgm:t>
        <a:bodyPr/>
        <a:lstStyle/>
        <a:p>
          <a:r>
            <a:rPr lang="fr-FR" sz="1800" b="0" i="0" u="none" strike="noStrike" dirty="0">
              <a:solidFill>
                <a:srgbClr val="000000"/>
              </a:solidFill>
              <a:effectLst/>
            </a:rPr>
            <a:t>Model Evaluation</a:t>
          </a:r>
          <a:endParaRPr lang="fr-FR" sz="1800" b="0" dirty="0"/>
        </a:p>
      </dgm:t>
    </dgm:pt>
    <dgm:pt modelId="{C710E70A-A441-9B49-8077-988DEF4237FA}" type="parTrans" cxnId="{C5599736-3EF7-5149-9A22-001C163F215F}">
      <dgm:prSet/>
      <dgm:spPr/>
      <dgm:t>
        <a:bodyPr/>
        <a:lstStyle/>
        <a:p>
          <a:endParaRPr lang="fr-FR"/>
        </a:p>
      </dgm:t>
    </dgm:pt>
    <dgm:pt modelId="{F4662D0A-C76F-5E45-8DB0-65A9F9F1E006}" type="sibTrans" cxnId="{C5599736-3EF7-5149-9A22-001C163F215F}">
      <dgm:prSet/>
      <dgm:spPr/>
      <dgm:t>
        <a:bodyPr/>
        <a:lstStyle/>
        <a:p>
          <a:endParaRPr lang="fr-FR"/>
        </a:p>
      </dgm:t>
    </dgm:pt>
    <dgm:pt modelId="{BFC9A684-7B77-6F41-A423-71A05621154C}">
      <dgm:prSet phldrT="[Texte]" custT="1"/>
      <dgm:spPr>
        <a:solidFill>
          <a:srgbClr val="002060"/>
        </a:solidFill>
      </dgm:spPr>
      <dgm:t>
        <a:bodyPr/>
        <a:lstStyle/>
        <a:p>
          <a:r>
            <a:rPr lang="fr-FR" sz="1800" b="0" i="0" u="none" strike="noStrike" dirty="0">
              <a:solidFill>
                <a:schemeClr val="bg1"/>
              </a:solidFill>
              <a:effectLst/>
            </a:rPr>
            <a:t>Traffic </a:t>
          </a:r>
          <a:r>
            <a:rPr lang="fr-FR" sz="1800" b="0" i="0" u="none" strike="noStrike" dirty="0" err="1">
              <a:solidFill>
                <a:schemeClr val="bg1"/>
              </a:solidFill>
              <a:effectLst/>
            </a:rPr>
            <a:t>Generation</a:t>
          </a:r>
          <a:r>
            <a:rPr lang="fr-FR" sz="1800" b="0" i="0" u="none" strike="noStrike" dirty="0">
              <a:solidFill>
                <a:schemeClr val="bg1"/>
              </a:solidFill>
              <a:effectLst/>
            </a:rPr>
            <a:t> &amp; Multi-</a:t>
          </a:r>
          <a:r>
            <a:rPr lang="fr-FR" sz="1800" b="0" i="0" u="none" strike="noStrike" dirty="0" err="1">
              <a:solidFill>
                <a:schemeClr val="bg1"/>
              </a:solidFill>
              <a:effectLst/>
            </a:rPr>
            <a:t>Extractor</a:t>
          </a:r>
          <a:r>
            <a:rPr lang="fr-FR" sz="1800" b="0" i="0" u="none" strike="noStrike" dirty="0">
              <a:solidFill>
                <a:schemeClr val="bg1"/>
              </a:solidFill>
              <a:effectLst/>
            </a:rPr>
            <a:t> Benchmark</a:t>
          </a:r>
          <a:endParaRPr lang="fr-FR" sz="1800" b="0" dirty="0">
            <a:solidFill>
              <a:schemeClr val="bg1"/>
            </a:solidFill>
          </a:endParaRPr>
        </a:p>
      </dgm:t>
    </dgm:pt>
    <dgm:pt modelId="{5B5831B7-5790-C443-AED5-9AACBC58F519}" type="parTrans" cxnId="{05F65C0B-0C50-FF4B-AAFD-D297EE88A185}">
      <dgm:prSet/>
      <dgm:spPr/>
      <dgm:t>
        <a:bodyPr/>
        <a:lstStyle/>
        <a:p>
          <a:endParaRPr lang="fr-FR"/>
        </a:p>
      </dgm:t>
    </dgm:pt>
    <dgm:pt modelId="{C4AFB5F4-7B84-8D42-89A4-45E2ECA05B34}" type="sibTrans" cxnId="{05F65C0B-0C50-FF4B-AAFD-D297EE88A185}">
      <dgm:prSet/>
      <dgm:spPr/>
      <dgm:t>
        <a:bodyPr/>
        <a:lstStyle/>
        <a:p>
          <a:endParaRPr lang="fr-FR"/>
        </a:p>
      </dgm:t>
    </dgm:pt>
    <dgm:pt modelId="{70F2558F-E282-D24B-AB72-8D3ED3DF8155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800" b="0" i="0" u="none" strike="noStrike" dirty="0">
              <a:solidFill>
                <a:srgbClr val="000000"/>
              </a:solidFill>
              <a:effectLst/>
            </a:rPr>
            <a:t>Pipeline Training &amp; Cross-Validation</a:t>
          </a:r>
          <a:endParaRPr lang="fr-FR" sz="1800" b="0" dirty="0"/>
        </a:p>
      </dgm:t>
    </dgm:pt>
    <dgm:pt modelId="{681CBC27-9422-B64B-953C-7C9BAC3AD922}" type="parTrans" cxnId="{4525C0B4-A077-A044-9A8A-564E6FED0227}">
      <dgm:prSet/>
      <dgm:spPr/>
      <dgm:t>
        <a:bodyPr/>
        <a:lstStyle/>
        <a:p>
          <a:endParaRPr lang="fr-FR"/>
        </a:p>
      </dgm:t>
    </dgm:pt>
    <dgm:pt modelId="{05FB9560-B26C-C54E-BE1E-0FB255D8D6C8}" type="sibTrans" cxnId="{4525C0B4-A077-A044-9A8A-564E6FED0227}">
      <dgm:prSet/>
      <dgm:spPr/>
      <dgm:t>
        <a:bodyPr/>
        <a:lstStyle/>
        <a:p>
          <a:endParaRPr lang="fr-FR"/>
        </a:p>
      </dgm:t>
    </dgm:pt>
    <dgm:pt modelId="{8A94C753-B4A3-EC42-92B9-7C770AEF5475}">
      <dgm:prSet custT="1"/>
      <dgm:spPr/>
      <dgm:t>
        <a:bodyPr/>
        <a:lstStyle/>
        <a:p>
          <a:r>
            <a:rPr lang="fr-FR" sz="1800" b="0" i="0" u="none" strike="noStrike" dirty="0" err="1">
              <a:solidFill>
                <a:srgbClr val="000000"/>
              </a:solidFill>
              <a:effectLst/>
            </a:rPr>
            <a:t>Synthetic</a:t>
          </a:r>
          <a:r>
            <a:rPr lang="fr-FR" sz="1800" b="0" i="0" u="none" strike="noStrike" dirty="0">
              <a:solidFill>
                <a:srgbClr val="000000"/>
              </a:solidFill>
              <a:effectLst/>
            </a:rPr>
            <a:t> &amp; Raw Traffic Engineering</a:t>
          </a:r>
          <a:endParaRPr lang="fr-FR" sz="1800" b="0" dirty="0"/>
        </a:p>
      </dgm:t>
    </dgm:pt>
    <dgm:pt modelId="{6FB20D33-66C7-C146-97AB-AB46D1BFAC91}" type="parTrans" cxnId="{7D3602A4-0F91-F342-97C4-978D0D162BFA}">
      <dgm:prSet/>
      <dgm:spPr/>
      <dgm:t>
        <a:bodyPr/>
        <a:lstStyle/>
        <a:p>
          <a:endParaRPr lang="fr-FR"/>
        </a:p>
      </dgm:t>
    </dgm:pt>
    <dgm:pt modelId="{13F90B4D-28FE-4A4F-8E31-8A1BD82A1FAF}" type="sibTrans" cxnId="{7D3602A4-0F91-F342-97C4-978D0D162BFA}">
      <dgm:prSet/>
      <dgm:spPr/>
      <dgm:t>
        <a:bodyPr/>
        <a:lstStyle/>
        <a:p>
          <a:endParaRPr lang="fr-FR"/>
        </a:p>
      </dgm:t>
    </dgm:pt>
    <dgm:pt modelId="{359593B7-E862-3A4C-BDAB-DFABAB8D31D0}" type="pres">
      <dgm:prSet presAssocID="{4773555A-6695-F94C-957C-E464CCCC3057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AA3FDC02-AA78-904D-B526-5360D1E6D59C}" type="pres">
      <dgm:prSet presAssocID="{C47DA143-C0E9-8D49-B112-EE8E587CB246}" presName="horFlow" presStyleCnt="0"/>
      <dgm:spPr/>
    </dgm:pt>
    <dgm:pt modelId="{DA4F0D4D-EA96-3846-96F4-807313316104}" type="pres">
      <dgm:prSet presAssocID="{C47DA143-C0E9-8D49-B112-EE8E587CB246}" presName="bigChev" presStyleLbl="node1" presStyleIdx="0" presStyleCnt="2"/>
      <dgm:spPr/>
    </dgm:pt>
    <dgm:pt modelId="{B086A66B-038E-8D4B-B1FE-B4B9F3D6A43F}" type="pres">
      <dgm:prSet presAssocID="{FE292A55-5798-6B47-8F9A-1E0963439BAA}" presName="parTrans" presStyleCnt="0"/>
      <dgm:spPr/>
    </dgm:pt>
    <dgm:pt modelId="{398DF1F6-EB66-364E-A7E6-87E310B26597}" type="pres">
      <dgm:prSet presAssocID="{AEB6D9DE-7A34-9E47-8F83-F9396D427E85}" presName="node" presStyleLbl="alignAccFollowNode1" presStyleIdx="0" presStyleCnt="4">
        <dgm:presLayoutVars>
          <dgm:bulletEnabled val="1"/>
        </dgm:presLayoutVars>
      </dgm:prSet>
      <dgm:spPr/>
    </dgm:pt>
    <dgm:pt modelId="{CC3BE205-2BDB-E741-BD74-CF9591BB83CB}" type="pres">
      <dgm:prSet presAssocID="{9BE555CB-6037-3648-9955-DE9A32DABEDF}" presName="sibTrans" presStyleCnt="0"/>
      <dgm:spPr/>
    </dgm:pt>
    <dgm:pt modelId="{DA44E8C8-1185-6F46-ADEE-4B721121028D}" type="pres">
      <dgm:prSet presAssocID="{CE0DA4CF-3FEA-BF40-B1CD-7D7AB26B8A8B}" presName="node" presStyleLbl="alignAccFollowNode1" presStyleIdx="1" presStyleCnt="4">
        <dgm:presLayoutVars>
          <dgm:bulletEnabled val="1"/>
        </dgm:presLayoutVars>
      </dgm:prSet>
      <dgm:spPr/>
    </dgm:pt>
    <dgm:pt modelId="{E05C1DC4-142D-8A43-B402-6F9F2CBDFA5A}" type="pres">
      <dgm:prSet presAssocID="{C47DA143-C0E9-8D49-B112-EE8E587CB246}" presName="vSp" presStyleCnt="0"/>
      <dgm:spPr/>
    </dgm:pt>
    <dgm:pt modelId="{442EDF32-A3D7-774D-8015-28A16443628D}" type="pres">
      <dgm:prSet presAssocID="{BFC9A684-7B77-6F41-A423-71A05621154C}" presName="horFlow" presStyleCnt="0"/>
      <dgm:spPr/>
    </dgm:pt>
    <dgm:pt modelId="{CD3F7BD2-E0CB-0442-9352-773362DA2EDA}" type="pres">
      <dgm:prSet presAssocID="{BFC9A684-7B77-6F41-A423-71A05621154C}" presName="bigChev" presStyleLbl="node1" presStyleIdx="1" presStyleCnt="2"/>
      <dgm:spPr/>
    </dgm:pt>
    <dgm:pt modelId="{114E866F-CE24-7E4E-A7C6-B5877766DE9A}" type="pres">
      <dgm:prSet presAssocID="{6FB20D33-66C7-C146-97AB-AB46D1BFAC91}" presName="parTrans" presStyleCnt="0"/>
      <dgm:spPr/>
    </dgm:pt>
    <dgm:pt modelId="{142DC0B5-5752-DC48-B39D-0BBEF16023D9}" type="pres">
      <dgm:prSet presAssocID="{8A94C753-B4A3-EC42-92B9-7C770AEF5475}" presName="node" presStyleLbl="alignAccFollowNode1" presStyleIdx="2" presStyleCnt="4">
        <dgm:presLayoutVars>
          <dgm:bulletEnabled val="1"/>
        </dgm:presLayoutVars>
      </dgm:prSet>
      <dgm:spPr/>
    </dgm:pt>
    <dgm:pt modelId="{7FD3568C-C5B0-8D48-BFFE-5C9C588EAC78}" type="pres">
      <dgm:prSet presAssocID="{13F90B4D-28FE-4A4F-8E31-8A1BD82A1FAF}" presName="sibTrans" presStyleCnt="0"/>
      <dgm:spPr/>
    </dgm:pt>
    <dgm:pt modelId="{7744097E-9A6D-2548-94EE-401888FDFBAE}" type="pres">
      <dgm:prSet presAssocID="{70F2558F-E282-D24B-AB72-8D3ED3DF8155}" presName="node" presStyleLbl="alignAccFollowNode1" presStyleIdx="3" presStyleCnt="4">
        <dgm:presLayoutVars>
          <dgm:bulletEnabled val="1"/>
        </dgm:presLayoutVars>
      </dgm:prSet>
      <dgm:spPr/>
    </dgm:pt>
  </dgm:ptLst>
  <dgm:cxnLst>
    <dgm:cxn modelId="{05F65C0B-0C50-FF4B-AAFD-D297EE88A185}" srcId="{4773555A-6695-F94C-957C-E464CCCC3057}" destId="{BFC9A684-7B77-6F41-A423-71A05621154C}" srcOrd="1" destOrd="0" parTransId="{5B5831B7-5790-C443-AED5-9AACBC58F519}" sibTransId="{C4AFB5F4-7B84-8D42-89A4-45E2ECA05B34}"/>
    <dgm:cxn modelId="{C5599736-3EF7-5149-9A22-001C163F215F}" srcId="{C47DA143-C0E9-8D49-B112-EE8E587CB246}" destId="{CE0DA4CF-3FEA-BF40-B1CD-7D7AB26B8A8B}" srcOrd="1" destOrd="0" parTransId="{C710E70A-A441-9B49-8077-988DEF4237FA}" sibTransId="{F4662D0A-C76F-5E45-8DB0-65A9F9F1E006}"/>
    <dgm:cxn modelId="{47C8D049-666D-3D4A-8D73-29E7A2408B7B}" srcId="{C47DA143-C0E9-8D49-B112-EE8E587CB246}" destId="{AEB6D9DE-7A34-9E47-8F83-F9396D427E85}" srcOrd="0" destOrd="0" parTransId="{FE292A55-5798-6B47-8F9A-1E0963439BAA}" sibTransId="{9BE555CB-6037-3648-9955-DE9A32DABEDF}"/>
    <dgm:cxn modelId="{E81E254A-D0F1-D44A-903E-18FEDDB45E89}" type="presOf" srcId="{BFC9A684-7B77-6F41-A423-71A05621154C}" destId="{CD3F7BD2-E0CB-0442-9352-773362DA2EDA}" srcOrd="0" destOrd="0" presId="urn:microsoft.com/office/officeart/2005/8/layout/lProcess3"/>
    <dgm:cxn modelId="{0BE8BC53-CB77-744A-90D3-9E5291338123}" type="presOf" srcId="{C47DA143-C0E9-8D49-B112-EE8E587CB246}" destId="{DA4F0D4D-EA96-3846-96F4-807313316104}" srcOrd="0" destOrd="0" presId="urn:microsoft.com/office/officeart/2005/8/layout/lProcess3"/>
    <dgm:cxn modelId="{65DCE45A-A5E4-F847-B568-1F01137560D2}" type="presOf" srcId="{AEB6D9DE-7A34-9E47-8F83-F9396D427E85}" destId="{398DF1F6-EB66-364E-A7E6-87E310B26597}" srcOrd="0" destOrd="0" presId="urn:microsoft.com/office/officeart/2005/8/layout/lProcess3"/>
    <dgm:cxn modelId="{55C83876-2D26-A245-8D51-60139429DFF4}" type="presOf" srcId="{CE0DA4CF-3FEA-BF40-B1CD-7D7AB26B8A8B}" destId="{DA44E8C8-1185-6F46-ADEE-4B721121028D}" srcOrd="0" destOrd="0" presId="urn:microsoft.com/office/officeart/2005/8/layout/lProcess3"/>
    <dgm:cxn modelId="{255C8B78-A4C3-E941-88D1-2383ADF55E4C}" srcId="{4773555A-6695-F94C-957C-E464CCCC3057}" destId="{C47DA143-C0E9-8D49-B112-EE8E587CB246}" srcOrd="0" destOrd="0" parTransId="{B28457A0-51F0-204F-BF07-DEBEFA1FB677}" sibTransId="{87262D52-5AE3-9349-8211-D60AB0DA3A79}"/>
    <dgm:cxn modelId="{7D3602A4-0F91-F342-97C4-978D0D162BFA}" srcId="{BFC9A684-7B77-6F41-A423-71A05621154C}" destId="{8A94C753-B4A3-EC42-92B9-7C770AEF5475}" srcOrd="0" destOrd="0" parTransId="{6FB20D33-66C7-C146-97AB-AB46D1BFAC91}" sibTransId="{13F90B4D-28FE-4A4F-8E31-8A1BD82A1FAF}"/>
    <dgm:cxn modelId="{4525C0B4-A077-A044-9A8A-564E6FED0227}" srcId="{BFC9A684-7B77-6F41-A423-71A05621154C}" destId="{70F2558F-E282-D24B-AB72-8D3ED3DF8155}" srcOrd="1" destOrd="0" parTransId="{681CBC27-9422-B64B-953C-7C9BAC3AD922}" sibTransId="{05FB9560-B26C-C54E-BE1E-0FB255D8D6C8}"/>
    <dgm:cxn modelId="{CA1C05BC-DDA1-9B4A-8611-192AF8EDE032}" type="presOf" srcId="{8A94C753-B4A3-EC42-92B9-7C770AEF5475}" destId="{142DC0B5-5752-DC48-B39D-0BBEF16023D9}" srcOrd="0" destOrd="0" presId="urn:microsoft.com/office/officeart/2005/8/layout/lProcess3"/>
    <dgm:cxn modelId="{4F77A4EF-A10F-554F-B06A-2321EB85BB81}" type="presOf" srcId="{4773555A-6695-F94C-957C-E464CCCC3057}" destId="{359593B7-E862-3A4C-BDAB-DFABAB8D31D0}" srcOrd="0" destOrd="0" presId="urn:microsoft.com/office/officeart/2005/8/layout/lProcess3"/>
    <dgm:cxn modelId="{F4201BFC-B011-E34E-A6CE-C2D239529F0A}" type="presOf" srcId="{70F2558F-E282-D24B-AB72-8D3ED3DF8155}" destId="{7744097E-9A6D-2548-94EE-401888FDFBAE}" srcOrd="0" destOrd="0" presId="urn:microsoft.com/office/officeart/2005/8/layout/lProcess3"/>
    <dgm:cxn modelId="{B9F69E5F-7F13-3240-A7BA-33EAD1A90F35}" type="presParOf" srcId="{359593B7-E862-3A4C-BDAB-DFABAB8D31D0}" destId="{AA3FDC02-AA78-904D-B526-5360D1E6D59C}" srcOrd="0" destOrd="0" presId="urn:microsoft.com/office/officeart/2005/8/layout/lProcess3"/>
    <dgm:cxn modelId="{9BD8656F-2A3A-AD45-B413-3284ACF74566}" type="presParOf" srcId="{AA3FDC02-AA78-904D-B526-5360D1E6D59C}" destId="{DA4F0D4D-EA96-3846-96F4-807313316104}" srcOrd="0" destOrd="0" presId="urn:microsoft.com/office/officeart/2005/8/layout/lProcess3"/>
    <dgm:cxn modelId="{4D200C87-95C2-CE41-A5E6-85937BA3C0D8}" type="presParOf" srcId="{AA3FDC02-AA78-904D-B526-5360D1E6D59C}" destId="{B086A66B-038E-8D4B-B1FE-B4B9F3D6A43F}" srcOrd="1" destOrd="0" presId="urn:microsoft.com/office/officeart/2005/8/layout/lProcess3"/>
    <dgm:cxn modelId="{7DAF8CF3-8DBE-364E-AB4D-242BAED318AC}" type="presParOf" srcId="{AA3FDC02-AA78-904D-B526-5360D1E6D59C}" destId="{398DF1F6-EB66-364E-A7E6-87E310B26597}" srcOrd="2" destOrd="0" presId="urn:microsoft.com/office/officeart/2005/8/layout/lProcess3"/>
    <dgm:cxn modelId="{CCBE13AB-4EEF-5D4D-B9FE-73C3E6476C5D}" type="presParOf" srcId="{AA3FDC02-AA78-904D-B526-5360D1E6D59C}" destId="{CC3BE205-2BDB-E741-BD74-CF9591BB83CB}" srcOrd="3" destOrd="0" presId="urn:microsoft.com/office/officeart/2005/8/layout/lProcess3"/>
    <dgm:cxn modelId="{36F9D7DB-7137-5549-A01E-AB22D18D6FF9}" type="presParOf" srcId="{AA3FDC02-AA78-904D-B526-5360D1E6D59C}" destId="{DA44E8C8-1185-6F46-ADEE-4B721121028D}" srcOrd="4" destOrd="0" presId="urn:microsoft.com/office/officeart/2005/8/layout/lProcess3"/>
    <dgm:cxn modelId="{F3307ABA-06B2-9943-902F-32C9D1069DF4}" type="presParOf" srcId="{359593B7-E862-3A4C-BDAB-DFABAB8D31D0}" destId="{E05C1DC4-142D-8A43-B402-6F9F2CBDFA5A}" srcOrd="1" destOrd="0" presId="urn:microsoft.com/office/officeart/2005/8/layout/lProcess3"/>
    <dgm:cxn modelId="{20965D59-0179-3441-B82D-A747197882BD}" type="presParOf" srcId="{359593B7-E862-3A4C-BDAB-DFABAB8D31D0}" destId="{442EDF32-A3D7-774D-8015-28A16443628D}" srcOrd="2" destOrd="0" presId="urn:microsoft.com/office/officeart/2005/8/layout/lProcess3"/>
    <dgm:cxn modelId="{35E5DBBA-CD18-2A4B-A0D8-2EAAC95936EC}" type="presParOf" srcId="{442EDF32-A3D7-774D-8015-28A16443628D}" destId="{CD3F7BD2-E0CB-0442-9352-773362DA2EDA}" srcOrd="0" destOrd="0" presId="urn:microsoft.com/office/officeart/2005/8/layout/lProcess3"/>
    <dgm:cxn modelId="{415F86D2-B7D4-9A4A-8A36-18BBE1D28D5F}" type="presParOf" srcId="{442EDF32-A3D7-774D-8015-28A16443628D}" destId="{114E866F-CE24-7E4E-A7C6-B5877766DE9A}" srcOrd="1" destOrd="0" presId="urn:microsoft.com/office/officeart/2005/8/layout/lProcess3"/>
    <dgm:cxn modelId="{40EC4902-1619-8E40-83A2-F48AA3F56DE6}" type="presParOf" srcId="{442EDF32-A3D7-774D-8015-28A16443628D}" destId="{142DC0B5-5752-DC48-B39D-0BBEF16023D9}" srcOrd="2" destOrd="0" presId="urn:microsoft.com/office/officeart/2005/8/layout/lProcess3"/>
    <dgm:cxn modelId="{823047C6-AE7B-CC4B-8F1A-1907C513589C}" type="presParOf" srcId="{442EDF32-A3D7-774D-8015-28A16443628D}" destId="{7FD3568C-C5B0-8D48-BFFE-5C9C588EAC78}" srcOrd="3" destOrd="0" presId="urn:microsoft.com/office/officeart/2005/8/layout/lProcess3"/>
    <dgm:cxn modelId="{193819FB-E6B4-1942-BFC7-17F98AD65A93}" type="presParOf" srcId="{442EDF32-A3D7-774D-8015-28A16443628D}" destId="{7744097E-9A6D-2548-94EE-401888FDFBA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4F0D4D-EA96-3846-96F4-807313316104}">
      <dsp:nvSpPr>
        <dsp:cNvPr id="0" name=""/>
        <dsp:cNvSpPr/>
      </dsp:nvSpPr>
      <dsp:spPr>
        <a:xfrm>
          <a:off x="2257" y="621385"/>
          <a:ext cx="3488701" cy="1395480"/>
        </a:xfrm>
        <a:prstGeom prst="chevron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i="0" u="none" strike="noStrike" kern="1200" dirty="0">
              <a:solidFill>
                <a:schemeClr val="bg1"/>
              </a:solidFill>
              <a:effectLst/>
            </a:rPr>
            <a:t>Pre-</a:t>
          </a:r>
          <a:r>
            <a:rPr lang="fr-FR" sz="1800" b="0" i="0" u="none" strike="noStrike" kern="1200" dirty="0" err="1">
              <a:solidFill>
                <a:schemeClr val="bg1"/>
              </a:solidFill>
              <a:effectLst/>
            </a:rPr>
            <a:t>labeled</a:t>
          </a:r>
          <a:r>
            <a:rPr lang="fr-FR" sz="1800" b="0" i="0" u="none" strike="noStrike" kern="1200" dirty="0">
              <a:solidFill>
                <a:schemeClr val="bg1"/>
              </a:solidFill>
              <a:effectLst/>
            </a:rPr>
            <a:t> </a:t>
          </a:r>
          <a:r>
            <a:rPr lang="fr-FR" sz="1800" b="0" i="0" u="none" strike="noStrike" kern="1200" dirty="0" err="1">
              <a:solidFill>
                <a:schemeClr val="bg1"/>
              </a:solidFill>
              <a:effectLst/>
            </a:rPr>
            <a:t>Dataset</a:t>
          </a:r>
          <a:r>
            <a:rPr lang="fr-FR" sz="1800" b="0" i="0" u="none" strike="noStrike" kern="1200" dirty="0">
              <a:solidFill>
                <a:schemeClr val="bg1"/>
              </a:solidFill>
              <a:effectLst/>
            </a:rPr>
            <a:t> Baseline</a:t>
          </a:r>
          <a:endParaRPr lang="fr-FR" sz="1800" b="0" kern="1200" dirty="0">
            <a:solidFill>
              <a:schemeClr val="bg1"/>
            </a:solidFill>
          </a:endParaRPr>
        </a:p>
      </dsp:txBody>
      <dsp:txXfrm>
        <a:off x="699997" y="621385"/>
        <a:ext cx="2093221" cy="1395480"/>
      </dsp:txXfrm>
    </dsp:sp>
    <dsp:sp modelId="{398DF1F6-EB66-364E-A7E6-87E310B26597}">
      <dsp:nvSpPr>
        <dsp:cNvPr id="0" name=""/>
        <dsp:cNvSpPr/>
      </dsp:nvSpPr>
      <dsp:spPr>
        <a:xfrm>
          <a:off x="3037427" y="740001"/>
          <a:ext cx="2895622" cy="115824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800" b="0" i="0" u="none" strike="noStrike" kern="1200" dirty="0">
              <a:solidFill>
                <a:srgbClr val="000000"/>
              </a:solidFill>
              <a:effectLst/>
            </a:rPr>
            <a:t>Data Ingestion &amp; </a:t>
          </a:r>
          <a:r>
            <a:rPr lang="fr-FR" sz="1800" b="0" i="0" u="none" strike="noStrike" kern="1200" dirty="0" err="1">
              <a:solidFill>
                <a:srgbClr val="000000"/>
              </a:solidFill>
              <a:effectLst/>
            </a:rPr>
            <a:t>Refinement</a:t>
          </a:r>
          <a:endParaRPr lang="fr-FR" sz="1800" b="0" kern="1200" dirty="0"/>
        </a:p>
      </dsp:txBody>
      <dsp:txXfrm>
        <a:off x="3616551" y="740001"/>
        <a:ext cx="1737374" cy="1158248"/>
      </dsp:txXfrm>
    </dsp:sp>
    <dsp:sp modelId="{DA44E8C8-1185-6F46-ADEE-4B721121028D}">
      <dsp:nvSpPr>
        <dsp:cNvPr id="0" name=""/>
        <dsp:cNvSpPr/>
      </dsp:nvSpPr>
      <dsp:spPr>
        <a:xfrm>
          <a:off x="5527663" y="740001"/>
          <a:ext cx="2895622" cy="115824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i="0" u="none" strike="noStrike" kern="1200" dirty="0">
              <a:solidFill>
                <a:srgbClr val="000000"/>
              </a:solidFill>
              <a:effectLst/>
            </a:rPr>
            <a:t>Model Evaluation</a:t>
          </a:r>
          <a:endParaRPr lang="fr-FR" sz="1800" b="0" kern="1200" dirty="0"/>
        </a:p>
      </dsp:txBody>
      <dsp:txXfrm>
        <a:off x="6106787" y="740001"/>
        <a:ext cx="1737374" cy="1158248"/>
      </dsp:txXfrm>
    </dsp:sp>
    <dsp:sp modelId="{CD3F7BD2-E0CB-0442-9352-773362DA2EDA}">
      <dsp:nvSpPr>
        <dsp:cNvPr id="0" name=""/>
        <dsp:cNvSpPr/>
      </dsp:nvSpPr>
      <dsp:spPr>
        <a:xfrm>
          <a:off x="2257" y="2212233"/>
          <a:ext cx="3488701" cy="1395480"/>
        </a:xfrm>
        <a:prstGeom prst="chevron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i="0" u="none" strike="noStrike" kern="1200" dirty="0">
              <a:solidFill>
                <a:schemeClr val="bg1"/>
              </a:solidFill>
              <a:effectLst/>
            </a:rPr>
            <a:t>Traffic </a:t>
          </a:r>
          <a:r>
            <a:rPr lang="fr-FR" sz="1800" b="0" i="0" u="none" strike="noStrike" kern="1200" dirty="0" err="1">
              <a:solidFill>
                <a:schemeClr val="bg1"/>
              </a:solidFill>
              <a:effectLst/>
            </a:rPr>
            <a:t>Generation</a:t>
          </a:r>
          <a:r>
            <a:rPr lang="fr-FR" sz="1800" b="0" i="0" u="none" strike="noStrike" kern="1200" dirty="0">
              <a:solidFill>
                <a:schemeClr val="bg1"/>
              </a:solidFill>
              <a:effectLst/>
            </a:rPr>
            <a:t> &amp; Multi-</a:t>
          </a:r>
          <a:r>
            <a:rPr lang="fr-FR" sz="1800" b="0" i="0" u="none" strike="noStrike" kern="1200" dirty="0" err="1">
              <a:solidFill>
                <a:schemeClr val="bg1"/>
              </a:solidFill>
              <a:effectLst/>
            </a:rPr>
            <a:t>Extractor</a:t>
          </a:r>
          <a:r>
            <a:rPr lang="fr-FR" sz="1800" b="0" i="0" u="none" strike="noStrike" kern="1200" dirty="0">
              <a:solidFill>
                <a:schemeClr val="bg1"/>
              </a:solidFill>
              <a:effectLst/>
            </a:rPr>
            <a:t> Benchmark</a:t>
          </a:r>
          <a:endParaRPr lang="fr-FR" sz="1800" b="0" kern="1200" dirty="0">
            <a:solidFill>
              <a:schemeClr val="bg1"/>
            </a:solidFill>
          </a:endParaRPr>
        </a:p>
      </dsp:txBody>
      <dsp:txXfrm>
        <a:off x="699997" y="2212233"/>
        <a:ext cx="2093221" cy="1395480"/>
      </dsp:txXfrm>
    </dsp:sp>
    <dsp:sp modelId="{142DC0B5-5752-DC48-B39D-0BBEF16023D9}">
      <dsp:nvSpPr>
        <dsp:cNvPr id="0" name=""/>
        <dsp:cNvSpPr/>
      </dsp:nvSpPr>
      <dsp:spPr>
        <a:xfrm>
          <a:off x="3037427" y="2330849"/>
          <a:ext cx="2895622" cy="115824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i="0" u="none" strike="noStrike" kern="1200" dirty="0" err="1">
              <a:solidFill>
                <a:srgbClr val="000000"/>
              </a:solidFill>
              <a:effectLst/>
            </a:rPr>
            <a:t>Synthetic</a:t>
          </a:r>
          <a:r>
            <a:rPr lang="fr-FR" sz="1800" b="0" i="0" u="none" strike="noStrike" kern="1200" dirty="0">
              <a:solidFill>
                <a:srgbClr val="000000"/>
              </a:solidFill>
              <a:effectLst/>
            </a:rPr>
            <a:t> &amp; Raw Traffic Engineering</a:t>
          </a:r>
          <a:endParaRPr lang="fr-FR" sz="1800" b="0" kern="1200" dirty="0"/>
        </a:p>
      </dsp:txBody>
      <dsp:txXfrm>
        <a:off x="3616551" y="2330849"/>
        <a:ext cx="1737374" cy="1158248"/>
      </dsp:txXfrm>
    </dsp:sp>
    <dsp:sp modelId="{7744097E-9A6D-2548-94EE-401888FDFBAE}">
      <dsp:nvSpPr>
        <dsp:cNvPr id="0" name=""/>
        <dsp:cNvSpPr/>
      </dsp:nvSpPr>
      <dsp:spPr>
        <a:xfrm>
          <a:off x="5527663" y="2330849"/>
          <a:ext cx="2895622" cy="115824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800" b="0" i="0" u="none" strike="noStrike" kern="1200" dirty="0">
              <a:solidFill>
                <a:srgbClr val="000000"/>
              </a:solidFill>
              <a:effectLst/>
            </a:rPr>
            <a:t>Pipeline Training &amp; Cross-Validation</a:t>
          </a:r>
          <a:endParaRPr lang="fr-FR" sz="1800" b="0" kern="1200" dirty="0"/>
        </a:p>
      </dsp:txBody>
      <dsp:txXfrm>
        <a:off x="6106787" y="2330849"/>
        <a:ext cx="1737374" cy="11582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422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0972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and Classification of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Network Traffic Flows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Systems and Network Security — Project Report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Tony Vukovic · Arij Kristou · Aurore Bellessa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1051560"/>
          </a:xfrm>
          <a:prstGeom prst="rect">
            <a:avLst/>
          </a:prstGeom>
          <a:solidFill>
            <a:srgbClr val="EF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is the new default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TLS 1.3, QUIC, DoH — the majority of internet traffic is now encrypted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3840480" cy="1051560"/>
          </a:xfrm>
          <a:prstGeom prst="rect">
            <a:avLst/>
          </a:prstGeom>
          <a:solidFill>
            <a:srgbClr val="EF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is no longer viable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Traditional Deep Packet Inspection cannot inspect encrypted payloads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3840480" cy="1051560"/>
          </a:xfrm>
          <a:prstGeom prst="rect">
            <a:avLst/>
          </a:prstGeom>
          <a:solidFill>
            <a:srgbClr val="EF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as a 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Flow-level metadata (timing, packet sizes, window init) enables payload-free classification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3566160"/>
          </a:xfrm>
          <a:prstGeom prst="rect">
            <a:avLst/>
          </a:prstGeom>
          <a:solidFill>
            <a:srgbClr val="002060"/>
          </a:solidFill>
          <a:ln w="12700">
            <a:solidFill>
              <a:srgbClr val="1A27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what extent can statistical flow metadata alone support reliable, privacy-preserving threat detection in fully encrypted network environments — and how does the choice of extraction tooling affect that capacity?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34640" cy="3931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 metrics suffice without payload access (Moore &amp; Papagiannaki, 2005)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JA3/JA3S TLS fingerprinting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QUIC metadata &amp; inter-packet timing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CNN-based encrypted classifiers (Okonkwo et al., 2022)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8688" y="914400"/>
            <a:ext cx="2834640" cy="3931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355848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Tools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355848" y="150876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NFStream — Python-native, rich flow stats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Cisco Joy — TLS/SSH handshake telemetry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PcapPlusPlus — C++, high-speed capture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PyShark / Scapy — ground-truth validation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63056" y="914400"/>
            <a:ext cx="2834640" cy="3931920"/>
          </a:xfrm>
          <a:prstGeom prst="rect">
            <a:avLst/>
          </a:prstGeom>
          <a:solidFill>
            <a:srgbClr val="002060"/>
          </a:solidFill>
          <a:ln w="12700">
            <a:solidFill>
              <a:srgbClr val="1A27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300216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00216" y="150876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CIC-IDS2017, CSE-CIC-IDS2018, CIC-DDoS2019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Known limitation: severe class imbalance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CIC-IDS-Collection (Kaggle): harmonized labels across all datasets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EBA36BC4-47C6-6BFB-A239-09A642BEF102}"/>
              </a:ext>
            </a:extLst>
          </p:cNvPr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of the study</a:t>
            </a:r>
            <a:endParaRPr lang="en-US" sz="2800" dirty="0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8CA3131F-0DEE-7232-BD79-5DE9E6AE38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3299681"/>
              </p:ext>
            </p:extLst>
          </p:nvPr>
        </p:nvGraphicFramePr>
        <p:xfrm>
          <a:off x="359228" y="728254"/>
          <a:ext cx="8425543" cy="422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499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Encrypted Traffic Isolation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005840"/>
          </a:xfrm>
          <a:prstGeom prst="rect">
            <a:avLst/>
          </a:prstGeom>
          <a:solidFill>
            <a:srgbClr val="002060"/>
          </a:solidFill>
          <a:ln w="12700">
            <a:solidFill>
              <a:srgbClr val="1A27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9.1M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flow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914400"/>
            <a:ext cx="1965960" cy="1005840"/>
          </a:xfrm>
          <a:prstGeom prst="rect">
            <a:avLst/>
          </a:prstGeom>
          <a:solidFill>
            <a:srgbClr val="002060"/>
          </a:solidFill>
          <a:ln w="12700">
            <a:solidFill>
              <a:srgbClr val="1A27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423160" y="960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1463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Statistical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965960" cy="1005840"/>
          </a:xfrm>
          <a:prstGeom prst="rect">
            <a:avLst/>
          </a:prstGeom>
          <a:solidFill>
            <a:srgbClr val="002060"/>
          </a:solidFill>
          <a:ln w="12700">
            <a:solidFill>
              <a:srgbClr val="1A27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0" y="960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4.75M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1463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Encrypted flows retained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914400"/>
            <a:ext cx="1965960" cy="1005840"/>
          </a:xfrm>
          <a:prstGeom prst="rect">
            <a:avLst/>
          </a:prstGeom>
          <a:solidFill>
            <a:srgbClr val="002060"/>
          </a:solidFill>
          <a:ln w="12700">
            <a:solidFill>
              <a:srgbClr val="1A27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720840" y="960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20840" y="1463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Attack categories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Fingerprinting Heuristic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8229600" cy="1234440"/>
          </a:xfrm>
          <a:prstGeom prst="rect">
            <a:avLst/>
          </a:prstGeom>
          <a:solidFill>
            <a:srgbClr val="EF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" y="257860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Isolates bidirectional handshake patterns characteristic of TLS and SSH sessions.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 numbers and IP excluded deliberately to prevent overfitting.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0632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Init_Fwd_Win_Bytes &gt; 0   — positive forward window size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Init_Bwd_Win_Bytes &gt; 0   — positive backward window size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Fwd_Seg_Size_Min ≥ 20   — minimum forward segment length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Attack Categories: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96012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960120" cy="3474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08760" y="4251960"/>
            <a:ext cx="96012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508760" y="4251960"/>
            <a:ext cx="960120" cy="3474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4251960"/>
            <a:ext cx="96012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560320" y="4251960"/>
            <a:ext cx="960120" cy="3474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11880" y="4251960"/>
            <a:ext cx="96012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611880" y="4251960"/>
            <a:ext cx="960120" cy="3474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4251960"/>
            <a:ext cx="96012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663440" y="4251960"/>
            <a:ext cx="960120" cy="3474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Bruteforce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15000" y="4251960"/>
            <a:ext cx="96012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715000" y="4251960"/>
            <a:ext cx="960120" cy="3474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4251960"/>
            <a:ext cx="96012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766560" y="4251960"/>
            <a:ext cx="960120" cy="3474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Webattack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818120" y="4251960"/>
            <a:ext cx="96012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818120" y="4251960"/>
            <a:ext cx="960120" cy="3474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Portscan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1CC104DA-23F5-0BF4-1A93-BA03A0F877CA}"/>
              </a:ext>
            </a:extLst>
          </p:cNvPr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2600" dirty="0"/>
          </a:p>
        </p:txBody>
      </p:sp>
      <p:sp>
        <p:nvSpPr>
          <p:cNvPr id="5" name="Text 14">
            <a:extLst>
              <a:ext uri="{FF2B5EF4-FFF2-40B4-BE49-F238E27FC236}">
                <a16:creationId xmlns:a16="http://schemas.microsoft.com/office/drawing/2014/main" id="{8C1AFF0A-6E15-DCEA-6433-F90E585805C0}"/>
              </a:ext>
            </a:extLst>
          </p:cNvPr>
          <p:cNvSpPr/>
          <p:nvPr/>
        </p:nvSpPr>
        <p:spPr>
          <a:xfrm>
            <a:off x="457200" y="938001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Unbalenced</a:t>
            </a:r>
            <a:endParaRPr lang="en-US" sz="14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863EC92-9615-6140-05DD-7064D7D025AD}"/>
              </a:ext>
            </a:extLst>
          </p:cNvPr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EF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A0F4CB2-11FE-8AA3-5AA8-5A358198DF38}"/>
              </a:ext>
            </a:extLst>
          </p:cNvPr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B516489-37A6-E86F-D624-71E7F3DBDDE7}"/>
              </a:ext>
            </a:extLst>
          </p:cNvPr>
          <p:cNvSpPr/>
          <p:nvPr/>
        </p:nvSpPr>
        <p:spPr>
          <a:xfrm>
            <a:off x="594360" y="1033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unbalanced</a:t>
            </a:r>
            <a:endParaRPr lang="en-US" sz="1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A2EBFD8-15C5-C4B6-3076-3CBF63561695}"/>
              </a:ext>
            </a:extLst>
          </p:cNvPr>
          <p:cNvSpPr/>
          <p:nvPr/>
        </p:nvSpPr>
        <p:spPr>
          <a:xfrm>
            <a:off x="594360" y="139903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Severe baseline asymmetry. Benign network traffic dominates the dataset, reflecting real environment.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Trivial Classification shortcut. Standard ML models bias heavily toward the majority class, leading to high global accuracy but a critical blindness toward active threats. 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3C0F60D-1B97-3987-6AEE-DA66EFD0F76B}"/>
              </a:ext>
            </a:extLst>
          </p:cNvPr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EF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035A64B-5AC3-9A4D-E93C-8D85BC1B9462}"/>
              </a:ext>
            </a:extLst>
          </p:cNvPr>
          <p:cNvSpPr/>
          <p:nvPr/>
        </p:nvSpPr>
        <p:spPr>
          <a:xfrm>
            <a:off x="365760" y="2286000"/>
            <a:ext cx="91440" cy="11887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6D429B7-82CC-A6C1-0D8A-F3ED27F1A8CD}"/>
              </a:ext>
            </a:extLst>
          </p:cNvPr>
          <p:cNvSpPr/>
          <p:nvPr/>
        </p:nvSpPr>
        <p:spPr>
          <a:xfrm>
            <a:off x="594360" y="2359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 attack</a:t>
            </a:r>
            <a:endParaRPr lang="en-US" sz="13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AE6A627-3456-B803-586E-A026A4EFD589}"/>
              </a:ext>
            </a:extLst>
          </p:cNvPr>
          <p:cNvSpPr/>
          <p:nvPr/>
        </p:nvSpPr>
        <p:spPr>
          <a:xfrm>
            <a:off x="594360" y="272491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Statistical indistinguishability of infiltration threats. Their behaviors are heavily overlapping with legitimate web features within highly encrypted domains. </a:t>
            </a:r>
          </a:p>
        </p:txBody>
      </p:sp>
    </p:spTree>
    <p:extLst>
      <p:ext uri="{BB962C8B-B14F-4D97-AF65-F5344CB8AC3E}">
        <p14:creationId xmlns:p14="http://schemas.microsoft.com/office/powerpoint/2010/main" val="2745947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Pipelines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600200" cy="3474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Random Forest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estimators · max depth 15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Stratified 70/30 split · StandardScaler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914400"/>
            <a:ext cx="1600200" cy="34747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46888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57400" y="17373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Feature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242316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Flow_Repetition_Count: flows sharing identical mean &amp; max forward packet length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914400"/>
            <a:ext cx="160020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20624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94760" y="17373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Neural Network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242316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hidden layers (50 + 25 neurons)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Early stopping · max 30 iterations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0680" y="914400"/>
            <a:ext cx="1600200" cy="3474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4360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17373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242316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Synthetic minority oversampling targeting rare attack classes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914400"/>
            <a:ext cx="1600200" cy="3474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68096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69480" y="17373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RF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242316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class_weight='balanced'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Prioritizes sensitivity over global accuracy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Goal: identify the best strategy for detecting stealthy attacks like Infiltration in encrypted flows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Results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5486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73152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217920" y="1097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Backward stats dominate — server response patterns are the primary fingerprint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35040" y="2331720"/>
            <a:ext cx="73152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217920" y="2331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Packet shape &gt; volume — distribution matters more than total bytes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3566160"/>
            <a:ext cx="73152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6217920" y="3566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Flow_Repetition_Count absent from top 15 — repetition-based signatures add no signal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AECF28E-1923-F0EA-E3B1-062BF0A9A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0" y="989276"/>
            <a:ext cx="5003800" cy="34925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2E583ACC-1815-59BE-0210-815ACC9103C8}"/>
              </a:ext>
            </a:extLst>
          </p:cNvPr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Results</a:t>
            </a:r>
            <a:endParaRPr lang="en-US" sz="2800" dirty="0"/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3D53D2DE-5379-0749-0BDE-5D298C7ACC77}"/>
              </a:ext>
            </a:extLst>
          </p:cNvPr>
          <p:cNvCxnSpPr>
            <a:cxnSpLocks/>
          </p:cNvCxnSpPr>
          <p:nvPr/>
        </p:nvCxnSpPr>
        <p:spPr>
          <a:xfrm flipH="1">
            <a:off x="7219666" y="2922756"/>
            <a:ext cx="53226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80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Results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645779"/>
              </p:ext>
            </p:extLst>
          </p:nvPr>
        </p:nvGraphicFramePr>
        <p:xfrm>
          <a:off x="365760" y="941696"/>
          <a:ext cx="8412480" cy="248730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74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Inf. 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Inf. 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Inf.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4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Baseline RF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4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RF + SMOTE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4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RF + Class Weight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4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MLP Neural Network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Volumetric attacks (DDoS, DoS, Botnet, Bruteforce) → near-perfect detection across all models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Sensitivity vs. reliability trade-off: high recall = high false-positive rate (RF + Class Weight)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Infiltration remains unresolved — not a model problem, but a feature-space overlap problem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2622FD4-5A55-A428-0836-7E24BB28440E}"/>
              </a:ext>
            </a:extLst>
          </p:cNvPr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</a:rPr>
              <a:t>Benchmark Pipeline Overview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8BA8D2-1EE2-7721-E7FD-31F27A10A858}"/>
              </a:ext>
            </a:extLst>
          </p:cNvPr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</a:rPr>
              <a:t>From raw captured traffic to classified flows — three extraction tools, one ML pipeline</a:t>
            </a:r>
          </a:p>
        </p:txBody>
      </p:sp>
      <p:sp>
        <p:nvSpPr>
          <p:cNvPr id="4" name="Box1bg">
            <a:extLst>
              <a:ext uri="{FF2B5EF4-FFF2-40B4-BE49-F238E27FC236}">
                <a16:creationId xmlns:a16="http://schemas.microsoft.com/office/drawing/2014/main" id="{F6141994-93FD-299D-51BC-278B2E5DC408}"/>
              </a:ext>
            </a:extLst>
          </p:cNvPr>
          <p:cNvSpPr/>
          <p:nvPr/>
        </p:nvSpPr>
        <p:spPr>
          <a:xfrm>
            <a:off x="228600" y="1097280"/>
            <a:ext cx="1554480" cy="2743200"/>
          </a:xfrm>
          <a:prstGeom prst="rect">
            <a:avLst/>
          </a:prstGeom>
          <a:solidFill>
            <a:srgbClr val="1E3A6E"/>
          </a:solidFill>
          <a:ln w="0">
            <a:noFill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um1txt">
            <a:extLst>
              <a:ext uri="{FF2B5EF4-FFF2-40B4-BE49-F238E27FC236}">
                <a16:creationId xmlns:a16="http://schemas.microsoft.com/office/drawing/2014/main" id="{98EE1317-CCCE-FCE6-18C8-E721133F3B35}"/>
              </a:ext>
            </a:extLst>
          </p:cNvPr>
          <p:cNvSpPr/>
          <p:nvPr/>
        </p:nvSpPr>
        <p:spPr>
          <a:xfrm>
            <a:off x="7315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7" name="Label1">
            <a:extLst>
              <a:ext uri="{FF2B5EF4-FFF2-40B4-BE49-F238E27FC236}">
                <a16:creationId xmlns:a16="http://schemas.microsoft.com/office/drawing/2014/main" id="{AF13A4D5-C909-8BE9-A18E-F7C85E89BE06}"/>
              </a:ext>
            </a:extLst>
          </p:cNvPr>
          <p:cNvSpPr/>
          <p:nvPr/>
        </p:nvSpPr>
        <p:spPr>
          <a:xfrm>
            <a:off x="27432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Traffic Capture</a:t>
            </a:r>
          </a:p>
        </p:txBody>
      </p:sp>
      <p:sp>
        <p:nvSpPr>
          <p:cNvPr id="8" name="Detail1">
            <a:extLst>
              <a:ext uri="{FF2B5EF4-FFF2-40B4-BE49-F238E27FC236}">
                <a16:creationId xmlns:a16="http://schemas.microsoft.com/office/drawing/2014/main" id="{F558CAFB-BD83-EAE6-0DCC-1E32517A8927}"/>
              </a:ext>
            </a:extLst>
          </p:cNvPr>
          <p:cNvSpPr/>
          <p:nvPr/>
        </p:nvSpPr>
        <p:spPr>
          <a:xfrm>
            <a:off x="274320" y="2286000"/>
            <a:ext cx="146304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Raw .pcap files</a:t>
            </a:r>
          </a:p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Scapy-generated</a:t>
            </a:r>
          </a:p>
          <a:p>
            <a:pPr algn="ctr">
              <a:buNone/>
            </a:pPr>
            <a:r>
              <a:rPr lang="en-US" sz="900" dirty="0" err="1">
                <a:solidFill>
                  <a:srgbClr val="CADCFC"/>
                </a:solidFill>
                <a:latin typeface="Calibri Light" pitchFamily="34" charset="0"/>
              </a:rPr>
              <a:t>simulation_trafic.pcap</a:t>
            </a:r>
            <a:endParaRPr lang="en-US" sz="900" dirty="0">
              <a:solidFill>
                <a:srgbClr val="CADCFC"/>
              </a:solidFill>
              <a:latin typeface="Calibri Light" pitchFamily="34" charset="0"/>
            </a:endParaRPr>
          </a:p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Linked to csv with labels</a:t>
            </a:r>
          </a:p>
        </p:txBody>
      </p:sp>
      <p:sp>
        <p:nvSpPr>
          <p:cNvPr id="9" name="Arrow1">
            <a:extLst>
              <a:ext uri="{FF2B5EF4-FFF2-40B4-BE49-F238E27FC236}">
                <a16:creationId xmlns:a16="http://schemas.microsoft.com/office/drawing/2014/main" id="{62E8EAE4-3FE3-AC78-0351-48E640F9955A}"/>
              </a:ext>
            </a:extLst>
          </p:cNvPr>
          <p:cNvSpPr/>
          <p:nvPr/>
        </p:nvSpPr>
        <p:spPr>
          <a:xfrm>
            <a:off x="1828800" y="2331720"/>
            <a:ext cx="274320" cy="274320"/>
          </a:xfrm>
          <a:prstGeom prst="rightArrow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2bg">
            <a:extLst>
              <a:ext uri="{FF2B5EF4-FFF2-40B4-BE49-F238E27FC236}">
                <a16:creationId xmlns:a16="http://schemas.microsoft.com/office/drawing/2014/main" id="{E7908BF0-6DA6-1EEC-5BC0-A9E698C3858B}"/>
              </a:ext>
            </a:extLst>
          </p:cNvPr>
          <p:cNvSpPr/>
          <p:nvPr/>
        </p:nvSpPr>
        <p:spPr>
          <a:xfrm>
            <a:off x="2103120" y="1097280"/>
            <a:ext cx="1554480" cy="2743200"/>
          </a:xfrm>
          <a:prstGeom prst="rect">
            <a:avLst/>
          </a:prstGeom>
          <a:solidFill>
            <a:srgbClr val="065A82"/>
          </a:solidFill>
          <a:ln w="0">
            <a:noFill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Num2txt">
            <a:extLst>
              <a:ext uri="{FF2B5EF4-FFF2-40B4-BE49-F238E27FC236}">
                <a16:creationId xmlns:a16="http://schemas.microsoft.com/office/drawing/2014/main" id="{145C7024-A2AE-0606-0CD8-0AB93B9E9CBB}"/>
              </a:ext>
            </a:extLst>
          </p:cNvPr>
          <p:cNvSpPr/>
          <p:nvPr/>
        </p:nvSpPr>
        <p:spPr>
          <a:xfrm>
            <a:off x="26060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3" name="Label2">
            <a:extLst>
              <a:ext uri="{FF2B5EF4-FFF2-40B4-BE49-F238E27FC236}">
                <a16:creationId xmlns:a16="http://schemas.microsoft.com/office/drawing/2014/main" id="{4A984BFD-DAD6-54E5-357F-84F776CEAD8E}"/>
              </a:ext>
            </a:extLst>
          </p:cNvPr>
          <p:cNvSpPr/>
          <p:nvPr/>
        </p:nvSpPr>
        <p:spPr>
          <a:xfrm>
            <a:off x="21488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Flow Extraction</a:t>
            </a:r>
          </a:p>
        </p:txBody>
      </p:sp>
      <p:sp>
        <p:nvSpPr>
          <p:cNvPr id="14" name="Detail2">
            <a:extLst>
              <a:ext uri="{FF2B5EF4-FFF2-40B4-BE49-F238E27FC236}">
                <a16:creationId xmlns:a16="http://schemas.microsoft.com/office/drawing/2014/main" id="{2CCD76CD-C620-7DD4-076B-8D037B7223BE}"/>
              </a:ext>
            </a:extLst>
          </p:cNvPr>
          <p:cNvSpPr/>
          <p:nvPr/>
        </p:nvSpPr>
        <p:spPr>
          <a:xfrm>
            <a:off x="2148840" y="2286000"/>
            <a:ext cx="146304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NFStream</a:t>
            </a:r>
          </a:p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PcapPlusPlus</a:t>
            </a:r>
          </a:p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Cisco Joy</a:t>
            </a:r>
          </a:p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59 flow features</a:t>
            </a:r>
          </a:p>
        </p:txBody>
      </p:sp>
      <p:sp>
        <p:nvSpPr>
          <p:cNvPr id="15" name="Arrow2">
            <a:extLst>
              <a:ext uri="{FF2B5EF4-FFF2-40B4-BE49-F238E27FC236}">
                <a16:creationId xmlns:a16="http://schemas.microsoft.com/office/drawing/2014/main" id="{42860280-877A-A365-99B3-6EBEA9FD1ECC}"/>
              </a:ext>
            </a:extLst>
          </p:cNvPr>
          <p:cNvSpPr/>
          <p:nvPr/>
        </p:nvSpPr>
        <p:spPr>
          <a:xfrm>
            <a:off x="3703320" y="2331720"/>
            <a:ext cx="274320" cy="274320"/>
          </a:xfrm>
          <a:prstGeom prst="rightArrow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3bg">
            <a:extLst>
              <a:ext uri="{FF2B5EF4-FFF2-40B4-BE49-F238E27FC236}">
                <a16:creationId xmlns:a16="http://schemas.microsoft.com/office/drawing/2014/main" id="{603A6DB6-783A-AC9B-ED5C-C8E46DA35F62}"/>
              </a:ext>
            </a:extLst>
          </p:cNvPr>
          <p:cNvSpPr/>
          <p:nvPr/>
        </p:nvSpPr>
        <p:spPr>
          <a:xfrm>
            <a:off x="3977640" y="1097280"/>
            <a:ext cx="1554480" cy="2743200"/>
          </a:xfrm>
          <a:prstGeom prst="rect">
            <a:avLst/>
          </a:prstGeom>
          <a:solidFill>
            <a:srgbClr val="028090"/>
          </a:solidFill>
          <a:ln w="0">
            <a:noFill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Num3txt">
            <a:extLst>
              <a:ext uri="{FF2B5EF4-FFF2-40B4-BE49-F238E27FC236}">
                <a16:creationId xmlns:a16="http://schemas.microsoft.com/office/drawing/2014/main" id="{91D792C2-BDAA-4F21-05E9-086F2FA265B6}"/>
              </a:ext>
            </a:extLst>
          </p:cNvPr>
          <p:cNvSpPr/>
          <p:nvPr/>
        </p:nvSpPr>
        <p:spPr>
          <a:xfrm>
            <a:off x="44805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9" name="Label3">
            <a:extLst>
              <a:ext uri="{FF2B5EF4-FFF2-40B4-BE49-F238E27FC236}">
                <a16:creationId xmlns:a16="http://schemas.microsoft.com/office/drawing/2014/main" id="{407BEBB1-7776-76A2-F2F5-200C8FB385A1}"/>
              </a:ext>
            </a:extLst>
          </p:cNvPr>
          <p:cNvSpPr/>
          <p:nvPr/>
        </p:nvSpPr>
        <p:spPr>
          <a:xfrm>
            <a:off x="402336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Cleaning</a:t>
            </a:r>
          </a:p>
        </p:txBody>
      </p:sp>
      <p:sp>
        <p:nvSpPr>
          <p:cNvPr id="20" name="Detail3">
            <a:extLst>
              <a:ext uri="{FF2B5EF4-FFF2-40B4-BE49-F238E27FC236}">
                <a16:creationId xmlns:a16="http://schemas.microsoft.com/office/drawing/2014/main" id="{1926A8C5-EB79-EBE8-5402-016707FCD038}"/>
              </a:ext>
            </a:extLst>
          </p:cNvPr>
          <p:cNvSpPr/>
          <p:nvPr/>
        </p:nvSpPr>
        <p:spPr>
          <a:xfrm>
            <a:off x="4023360" y="2286000"/>
            <a:ext cx="146304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Inf/NaN removal</a:t>
            </a:r>
          </a:p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TLS heuristic filter</a:t>
            </a:r>
          </a:p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Label joining</a:t>
            </a:r>
          </a:p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4.75M flows retained</a:t>
            </a:r>
          </a:p>
        </p:txBody>
      </p:sp>
      <p:sp>
        <p:nvSpPr>
          <p:cNvPr id="21" name="Arrow3">
            <a:extLst>
              <a:ext uri="{FF2B5EF4-FFF2-40B4-BE49-F238E27FC236}">
                <a16:creationId xmlns:a16="http://schemas.microsoft.com/office/drawing/2014/main" id="{E4AA18E6-B3FE-1D47-7359-D61401ADD98F}"/>
              </a:ext>
            </a:extLst>
          </p:cNvPr>
          <p:cNvSpPr/>
          <p:nvPr/>
        </p:nvSpPr>
        <p:spPr>
          <a:xfrm>
            <a:off x="5577840" y="2331720"/>
            <a:ext cx="274320" cy="274320"/>
          </a:xfrm>
          <a:prstGeom prst="rightArrow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4bg">
            <a:extLst>
              <a:ext uri="{FF2B5EF4-FFF2-40B4-BE49-F238E27FC236}">
                <a16:creationId xmlns:a16="http://schemas.microsoft.com/office/drawing/2014/main" id="{71180773-F2A8-EDD2-9B5E-8E7CECBA65A1}"/>
              </a:ext>
            </a:extLst>
          </p:cNvPr>
          <p:cNvSpPr/>
          <p:nvPr/>
        </p:nvSpPr>
        <p:spPr>
          <a:xfrm>
            <a:off x="5852160" y="1097280"/>
            <a:ext cx="1554480" cy="2743200"/>
          </a:xfrm>
          <a:prstGeom prst="rect">
            <a:avLst/>
          </a:prstGeom>
          <a:solidFill>
            <a:srgbClr val="1E3A6E"/>
          </a:solidFill>
          <a:ln w="0">
            <a:noFill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Num4txt">
            <a:extLst>
              <a:ext uri="{FF2B5EF4-FFF2-40B4-BE49-F238E27FC236}">
                <a16:creationId xmlns:a16="http://schemas.microsoft.com/office/drawing/2014/main" id="{16740E44-14A6-D81F-7D99-6B8ACB33931A}"/>
              </a:ext>
            </a:extLst>
          </p:cNvPr>
          <p:cNvSpPr/>
          <p:nvPr/>
        </p:nvSpPr>
        <p:spPr>
          <a:xfrm>
            <a:off x="63550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5" name="Label4">
            <a:extLst>
              <a:ext uri="{FF2B5EF4-FFF2-40B4-BE49-F238E27FC236}">
                <a16:creationId xmlns:a16="http://schemas.microsoft.com/office/drawing/2014/main" id="{840EE56B-B4FC-CB7C-3F56-B2F8211A0DB2}"/>
              </a:ext>
            </a:extLst>
          </p:cNvPr>
          <p:cNvSpPr/>
          <p:nvPr/>
        </p:nvSpPr>
        <p:spPr>
          <a:xfrm>
            <a:off x="589788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ML Training</a:t>
            </a:r>
          </a:p>
        </p:txBody>
      </p:sp>
      <p:sp>
        <p:nvSpPr>
          <p:cNvPr id="26" name="Detail4">
            <a:extLst>
              <a:ext uri="{FF2B5EF4-FFF2-40B4-BE49-F238E27FC236}">
                <a16:creationId xmlns:a16="http://schemas.microsoft.com/office/drawing/2014/main" id="{0A3C468E-5130-BAE2-4709-704C4ACE7F6A}"/>
              </a:ext>
            </a:extLst>
          </p:cNvPr>
          <p:cNvSpPr/>
          <p:nvPr/>
        </p:nvSpPr>
        <p:spPr>
          <a:xfrm>
            <a:off x="5897880" y="2286000"/>
            <a:ext cx="146304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Random Forest</a:t>
            </a:r>
          </a:p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SMOTE balancing</a:t>
            </a:r>
          </a:p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MLP Neural Net</a:t>
            </a:r>
          </a:p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StandardScaler</a:t>
            </a:r>
          </a:p>
        </p:txBody>
      </p:sp>
      <p:sp>
        <p:nvSpPr>
          <p:cNvPr id="27" name="Arrow4">
            <a:extLst>
              <a:ext uri="{FF2B5EF4-FFF2-40B4-BE49-F238E27FC236}">
                <a16:creationId xmlns:a16="http://schemas.microsoft.com/office/drawing/2014/main" id="{E2C64465-0AC2-6145-3B7D-D59137FF3D15}"/>
              </a:ext>
            </a:extLst>
          </p:cNvPr>
          <p:cNvSpPr/>
          <p:nvPr/>
        </p:nvSpPr>
        <p:spPr>
          <a:xfrm>
            <a:off x="7452360" y="2331720"/>
            <a:ext cx="274320" cy="274320"/>
          </a:xfrm>
          <a:prstGeom prst="rightArrow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Box5bg">
            <a:extLst>
              <a:ext uri="{FF2B5EF4-FFF2-40B4-BE49-F238E27FC236}">
                <a16:creationId xmlns:a16="http://schemas.microsoft.com/office/drawing/2014/main" id="{DF2D5E35-70B2-305A-B827-22D1DAF0394F}"/>
              </a:ext>
            </a:extLst>
          </p:cNvPr>
          <p:cNvSpPr/>
          <p:nvPr/>
        </p:nvSpPr>
        <p:spPr>
          <a:xfrm>
            <a:off x="7726680" y="1097280"/>
            <a:ext cx="1188720" cy="2743200"/>
          </a:xfrm>
          <a:prstGeom prst="rect">
            <a:avLst/>
          </a:prstGeom>
          <a:solidFill>
            <a:srgbClr val="0284C7"/>
          </a:solidFill>
          <a:ln w="0">
            <a:noFill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Num5txt">
            <a:extLst>
              <a:ext uri="{FF2B5EF4-FFF2-40B4-BE49-F238E27FC236}">
                <a16:creationId xmlns:a16="http://schemas.microsoft.com/office/drawing/2014/main" id="{AB445205-3E59-974A-D795-81042CDAB8BF}"/>
              </a:ext>
            </a:extLst>
          </p:cNvPr>
          <p:cNvSpPr/>
          <p:nvPr/>
        </p:nvSpPr>
        <p:spPr>
          <a:xfrm>
            <a:off x="80474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1" name="Label5">
            <a:extLst>
              <a:ext uri="{FF2B5EF4-FFF2-40B4-BE49-F238E27FC236}">
                <a16:creationId xmlns:a16="http://schemas.microsoft.com/office/drawing/2014/main" id="{37FAE1C1-F60B-6754-AD36-77EF1A3A169E}"/>
              </a:ext>
            </a:extLst>
          </p:cNvPr>
          <p:cNvSpPr/>
          <p:nvPr/>
        </p:nvSpPr>
        <p:spPr>
          <a:xfrm>
            <a:off x="777240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Results</a:t>
            </a:r>
          </a:p>
        </p:txBody>
      </p:sp>
      <p:sp>
        <p:nvSpPr>
          <p:cNvPr id="32" name="Detail5">
            <a:extLst>
              <a:ext uri="{FF2B5EF4-FFF2-40B4-BE49-F238E27FC236}">
                <a16:creationId xmlns:a16="http://schemas.microsoft.com/office/drawing/2014/main" id="{599B59AB-72C8-E020-0AB7-A2DDC3E18A7E}"/>
              </a:ext>
            </a:extLst>
          </p:cNvPr>
          <p:cNvSpPr/>
          <p:nvPr/>
        </p:nvSpPr>
        <p:spPr>
          <a:xfrm>
            <a:off x="7772400" y="2286000"/>
            <a:ext cx="109728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Classification report</a:t>
            </a:r>
          </a:p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Tool comparison</a:t>
            </a:r>
          </a:p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F1 / Recall / Precision</a:t>
            </a:r>
          </a:p>
          <a:p>
            <a:pPr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</a:rPr>
              <a:t>Confusion matrix</a:t>
            </a:r>
          </a:p>
        </p:txBody>
      </p:sp>
      <p:sp>
        <p:nvSpPr>
          <p:cNvPr id="33" name="Footer">
            <a:extLst>
              <a:ext uri="{FF2B5EF4-FFF2-40B4-BE49-F238E27FC236}">
                <a16:creationId xmlns:a16="http://schemas.microsoft.com/office/drawing/2014/main" id="{08CC9FEC-CB82-6D4C-605D-CF7C049B253D}"/>
              </a:ext>
            </a:extLst>
          </p:cNvPr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</a:rPr>
              <a:t>Each extraction tool feeds an independent ML pipeline — results are compared across tools to assess structural impact 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829894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Extraction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834640" cy="406908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NFStream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40280" y="1005840"/>
            <a:ext cx="6858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240280" y="10058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560320" cy="292608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2560320" cy="29260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Python-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focused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high-performance live and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pcap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processing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framework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Rich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statistical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(87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ea typeface="Calibri Light" pitchFamily="34" charset="-122"/>
              <a:cs typeface="Calibri" panose="020F050202020403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anose="020F0502020204030204" pitchFamily="34" charset="0"/>
                <a:ea typeface="Calibri Light" pitchFamily="34" charset="-122"/>
                <a:cs typeface="Calibri" panose="020F0502020204030204" pitchFamily="34" charset="0"/>
              </a:rPr>
              <a:t>Flow stats overshadowed by app metadata</a:t>
            </a:r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72968" y="868680"/>
            <a:ext cx="2834640" cy="4069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310128" y="960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PcapPlusPlus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84648" y="1005840"/>
            <a:ext cx="6858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184648" y="10058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10128" y="1463040"/>
            <a:ext cx="2560320" cy="292608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310128" y="1463040"/>
            <a:ext cx="2560320" cy="29260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82880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Multiplatform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C++ engine for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low-level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packet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parsing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analysis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Extremely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fast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execution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minimal memory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footprint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directly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wrapping</a:t>
            </a:r>
            <a:r>
              <a:rPr lang="fr-FR" sz="1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ea typeface="Calibri Light" pitchFamily="34" charset="-122"/>
              <a:cs typeface="Calibri" panose="020F050202020403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Only 2 features extracted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Designed for capture speed, not statistical analysis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17336" y="868680"/>
            <a:ext cx="2834640" cy="4069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A27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9" name="Text 17"/>
          <p:cNvSpPr/>
          <p:nvPr/>
        </p:nvSpPr>
        <p:spPr>
          <a:xfrm>
            <a:off x="6254496" y="960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Joy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9016" y="1005840"/>
            <a:ext cx="6858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129016" y="10058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54496" y="1463040"/>
            <a:ext cx="2560320" cy="292608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254496" y="1463040"/>
            <a:ext cx="2560320" cy="29260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only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54496" y="182880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Industry</a:t>
            </a:r>
            <a:r>
              <a:rPr lang="fr-FR" sz="100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-standard </a:t>
            </a:r>
            <a:r>
              <a:rPr lang="fr-FR" sz="100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enterprise</a:t>
            </a:r>
            <a:r>
              <a:rPr lang="fr-FR" sz="100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network </a:t>
            </a:r>
            <a:r>
              <a:rPr lang="fr-FR" sz="100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telemetry</a:t>
            </a:r>
            <a:endParaRPr lang="fr-FR" sz="1000" i="0" u="none" strike="noStrike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Produces</a:t>
            </a:r>
            <a:r>
              <a:rPr lang="fr-FR" sz="100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lightweight</a:t>
            </a:r>
            <a:r>
              <a:rPr lang="fr-FR" sz="100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100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highly</a:t>
            </a:r>
            <a:r>
              <a:rPr lang="fr-FR" sz="100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standardized</a:t>
            </a:r>
            <a:r>
              <a:rPr lang="fr-FR" sz="100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flow records </a:t>
            </a:r>
            <a:r>
              <a:rPr lang="fr-FR" sz="100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optimized</a:t>
            </a:r>
            <a:r>
              <a:rPr lang="fr-FR" sz="100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for high-</a:t>
            </a:r>
            <a:r>
              <a:rPr lang="fr-FR" sz="100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throughput</a:t>
            </a:r>
            <a:r>
              <a:rPr lang="fr-FR" sz="100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production </a:t>
            </a:r>
            <a:r>
              <a:rPr lang="fr-FR" sz="100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ea typeface="Calibri Light" pitchFamily="34" charset="-122"/>
              <a:cs typeface="Calibri" panose="020F050202020403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anose="020F0502020204030204" pitchFamily="34" charset="0"/>
                <a:ea typeface="Calibri Light" pitchFamily="34" charset="-122"/>
                <a:cs typeface="Calibri" panose="020F0502020204030204" pitchFamily="34" charset="0"/>
              </a:rPr>
              <a:t>Binary schema: Attack vs. Benign only</a:t>
            </a:r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anose="020F0502020204030204" pitchFamily="34" charset="0"/>
                <a:ea typeface="Calibri Light" pitchFamily="34" charset="-122"/>
                <a:cs typeface="Calibri" panose="020F0502020204030204" pitchFamily="34" charset="0"/>
              </a:rPr>
              <a:t>No per-category </a:t>
            </a:r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  <a:ea typeface="Calibri Light" pitchFamily="34" charset="-122"/>
                <a:cs typeface="Calibri" panose="020F0502020204030204" pitchFamily="34" charset="0"/>
              </a:rPr>
              <a:t>analysis possible</a:t>
            </a:r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B4D995A-58DF-000A-7F1A-F222EDD2F4A0}"/>
              </a:ext>
            </a:extLst>
          </p:cNvPr>
          <p:cNvSpPr/>
          <p:nvPr/>
        </p:nvSpPr>
        <p:spPr>
          <a:xfrm>
            <a:off x="457200" y="152400"/>
            <a:ext cx="82296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</a:rPr>
              <a:t>Confusion Matrices — Extraction Tool Benchmark</a:t>
            </a:r>
          </a:p>
        </p:txBody>
      </p:sp>
      <p:sp>
        <p:nvSpPr>
          <p:cNvPr id="3" name="Sub">
            <a:extLst>
              <a:ext uri="{FF2B5EF4-FFF2-40B4-BE49-F238E27FC236}">
                <a16:creationId xmlns:a16="http://schemas.microsoft.com/office/drawing/2014/main" id="{59452942-A6C8-7DEF-18FF-8C49EE94170C}"/>
              </a:ext>
            </a:extLst>
          </p:cNvPr>
          <p:cNvSpPr/>
          <p:nvPr/>
        </p:nvSpPr>
        <p:spPr>
          <a:xfrm>
            <a:off x="457200" y="622300"/>
            <a:ext cx="8229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</a:rPr>
              <a:t>Normalized per true class</a:t>
            </a:r>
          </a:p>
        </p:txBody>
      </p:sp>
      <p:sp>
        <p:nvSpPr>
          <p:cNvPr id="6" name="LblNFSbin">
            <a:extLst>
              <a:ext uri="{FF2B5EF4-FFF2-40B4-BE49-F238E27FC236}">
                <a16:creationId xmlns:a16="http://schemas.microsoft.com/office/drawing/2014/main" id="{83AE7A43-8B01-F1BB-2907-C5B9DB86E083}"/>
              </a:ext>
            </a:extLst>
          </p:cNvPr>
          <p:cNvSpPr/>
          <p:nvPr/>
        </p:nvSpPr>
        <p:spPr>
          <a:xfrm>
            <a:off x="138948" y="1011084"/>
            <a:ext cx="2675965" cy="361116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NFStream — Binary (Attack vs. Benign)</a:t>
            </a:r>
          </a:p>
        </p:txBody>
      </p:sp>
      <p:pic>
        <p:nvPicPr>
          <p:cNvPr id="7" name="ImgNFSbin">
            <a:extLst>
              <a:ext uri="{FF2B5EF4-FFF2-40B4-BE49-F238E27FC236}">
                <a16:creationId xmlns:a16="http://schemas.microsoft.com/office/drawing/2014/main" id="{246F7DFB-0832-C96A-F96C-EBFDF9E86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" y="1561063"/>
            <a:ext cx="2912543" cy="1989289"/>
          </a:xfrm>
          <a:prstGeom prst="rect">
            <a:avLst/>
          </a:prstGeom>
        </p:spPr>
      </p:pic>
      <p:sp>
        <p:nvSpPr>
          <p:cNvPr id="13" name="Shape 4">
            <a:extLst>
              <a:ext uri="{FF2B5EF4-FFF2-40B4-BE49-F238E27FC236}">
                <a16:creationId xmlns:a16="http://schemas.microsoft.com/office/drawing/2014/main" id="{8D5CDDF3-0DBB-E9D9-1D51-7C531735944C}"/>
              </a:ext>
            </a:extLst>
          </p:cNvPr>
          <p:cNvSpPr/>
          <p:nvPr/>
        </p:nvSpPr>
        <p:spPr>
          <a:xfrm>
            <a:off x="918882" y="3831149"/>
            <a:ext cx="6858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98%</a:t>
            </a:r>
          </a:p>
        </p:txBody>
      </p:sp>
      <p:sp>
        <p:nvSpPr>
          <p:cNvPr id="14" name="LblPcap">
            <a:extLst>
              <a:ext uri="{FF2B5EF4-FFF2-40B4-BE49-F238E27FC236}">
                <a16:creationId xmlns:a16="http://schemas.microsoft.com/office/drawing/2014/main" id="{BAD46449-5F6E-E028-7CBC-317056BE1271}"/>
              </a:ext>
            </a:extLst>
          </p:cNvPr>
          <p:cNvSpPr/>
          <p:nvPr/>
        </p:nvSpPr>
        <p:spPr>
          <a:xfrm>
            <a:off x="3234017" y="972205"/>
            <a:ext cx="2675965" cy="361116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PcapPlusPlus — Binary (Attack vs. Benign)</a:t>
            </a:r>
          </a:p>
        </p:txBody>
      </p:sp>
      <p:pic>
        <p:nvPicPr>
          <p:cNvPr id="15" name="ImgPcap">
            <a:extLst>
              <a:ext uri="{FF2B5EF4-FFF2-40B4-BE49-F238E27FC236}">
                <a16:creationId xmlns:a16="http://schemas.microsoft.com/office/drawing/2014/main" id="{5B53369A-8233-D602-1969-E325DF865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727" y="1587590"/>
            <a:ext cx="2912544" cy="1989289"/>
          </a:xfrm>
          <a:prstGeom prst="rect">
            <a:avLst/>
          </a:prstGeom>
        </p:spPr>
      </p:pic>
      <p:sp>
        <p:nvSpPr>
          <p:cNvPr id="16" name="Shape 4">
            <a:extLst>
              <a:ext uri="{FF2B5EF4-FFF2-40B4-BE49-F238E27FC236}">
                <a16:creationId xmlns:a16="http://schemas.microsoft.com/office/drawing/2014/main" id="{82E06213-1A9C-508D-F1EB-29B636E7EB00}"/>
              </a:ext>
            </a:extLst>
          </p:cNvPr>
          <p:cNvSpPr/>
          <p:nvPr/>
        </p:nvSpPr>
        <p:spPr>
          <a:xfrm>
            <a:off x="3977712" y="3831149"/>
            <a:ext cx="721895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78%</a:t>
            </a:r>
          </a:p>
        </p:txBody>
      </p:sp>
      <p:sp>
        <p:nvSpPr>
          <p:cNvPr id="17" name="LblCisco">
            <a:extLst>
              <a:ext uri="{FF2B5EF4-FFF2-40B4-BE49-F238E27FC236}">
                <a16:creationId xmlns:a16="http://schemas.microsoft.com/office/drawing/2014/main" id="{D89742AC-582D-76AC-B2EA-3FA6F123F338}"/>
              </a:ext>
            </a:extLst>
          </p:cNvPr>
          <p:cNvSpPr/>
          <p:nvPr/>
        </p:nvSpPr>
        <p:spPr>
          <a:xfrm>
            <a:off x="6199096" y="972205"/>
            <a:ext cx="2675965" cy="361116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Cisco Joy — Binary (Attack vs. Benign)</a:t>
            </a:r>
          </a:p>
        </p:txBody>
      </p:sp>
      <p:pic>
        <p:nvPicPr>
          <p:cNvPr id="18" name="ImgCisco">
            <a:extLst>
              <a:ext uri="{FF2B5EF4-FFF2-40B4-BE49-F238E27FC236}">
                <a16:creationId xmlns:a16="http://schemas.microsoft.com/office/drawing/2014/main" id="{4C03B338-FE70-582B-A673-05E9D6D0F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457" y="1587590"/>
            <a:ext cx="2912543" cy="1989289"/>
          </a:xfrm>
          <a:prstGeom prst="rect">
            <a:avLst/>
          </a:prstGeom>
        </p:spPr>
      </p:pic>
      <p:sp>
        <p:nvSpPr>
          <p:cNvPr id="19" name="Shape 4">
            <a:extLst>
              <a:ext uri="{FF2B5EF4-FFF2-40B4-BE49-F238E27FC236}">
                <a16:creationId xmlns:a16="http://schemas.microsoft.com/office/drawing/2014/main" id="{0EDB84B3-B76A-79AA-6754-625D362E4BB8}"/>
              </a:ext>
            </a:extLst>
          </p:cNvPr>
          <p:cNvSpPr/>
          <p:nvPr/>
        </p:nvSpPr>
        <p:spPr>
          <a:xfrm>
            <a:off x="7194177" y="3831149"/>
            <a:ext cx="6858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79%</a:t>
            </a:r>
          </a:p>
        </p:txBody>
      </p:sp>
    </p:spTree>
    <p:extLst>
      <p:ext uri="{BB962C8B-B14F-4D97-AF65-F5344CB8AC3E}">
        <p14:creationId xmlns:p14="http://schemas.microsoft.com/office/powerpoint/2010/main" val="148917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EF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1033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is sufficient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9903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NFStream offers rich statistics but use future leakage. PcapPlusPlus is operationally fast but statistically sparse. Cisco Joy is also fast but produces mixed results and forces binary classification.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EF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91440" cy="11887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" y="2359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 is a representation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72491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Neither SMOTE, cost-sensitive learning, nor a neural architecture resolves Infiltration detection. The failure is in the feature space — stealthy flows are statistically indistinguishable from benign encrypted traffic without richer protocol-level telemetry.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EF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91440" cy="11887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" y="36850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a multi-tool production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05079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Combining NFStream's statistical depth (with application metadata excluded) and Cisco Joy's handshake fingerprinting, while reserving PcapPlusPlus for high-speed capture, represents the most promising direction.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005840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 the research question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Flow-level metadata reliably detects volumetric encrypted attacks, but is fundamentally insufficient for low-volume stealthy intrusions without richer protocol-level telemetry.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DDoS, DoS, Botnet, Bruteforce → near-perfect detection with flow metadata alone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Infiltration → unresolved across all models and balancing strategies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284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Tool choice is not neutral — NFStream, PcapPlusPlus, and Cisco Joy each impose structural limitations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867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Future work: live NFStream integration + multi-tool pipeline + temporal behavioral modeling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Tony Vukovic · Arij Kristou · Aurore Bellessa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1090</Words>
  <Application>Microsoft Macintosh PowerPoint</Application>
  <PresentationFormat>Affichage à l'écran (16:9)</PresentationFormat>
  <Paragraphs>207</Paragraphs>
  <Slides>15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Identification and Classification of Encrypted Network Traffic Flows</dc:title>
  <dc:subject>PptxGenJS Presentation</dc:subject>
  <dc:creator>PptxGenJS</dc:creator>
  <cp:lastModifiedBy>Aurore Bellessa (Student at CentraleSupelec)</cp:lastModifiedBy>
  <cp:revision>8</cp:revision>
  <dcterms:created xsi:type="dcterms:W3CDTF">2026-05-27T09:33:05Z</dcterms:created>
  <dcterms:modified xsi:type="dcterms:W3CDTF">2026-05-28T08:22:05Z</dcterms:modified>
</cp:coreProperties>
</file>